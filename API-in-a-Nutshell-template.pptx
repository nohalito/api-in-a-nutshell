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709930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DATASCHOOL · WEB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46480"/>
            <a:ext cx="10566400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6000" b="1" i="0" spc="-180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in a Nutshell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799" y="2935603"/>
            <a:ext cx="45719" cy="1301751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3300" y="2935604"/>
            <a:ext cx="6551168" cy="1395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2000" b="0" i="0" dirty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 presentation made to clarify exactly what APIs are, understand their uses, get the gist of designing them, and highlight why you, too, must know about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420497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4000" b="1" i="0" spc="-51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Motivation of this </a:t>
            </a:r>
            <a:r>
              <a:rPr sz="4000" b="1" i="0" spc="-51" dirty="0" err="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dataschool</a:t>
            </a:r>
            <a:endParaRPr sz="4000" b="1" i="0" spc="-51" dirty="0">
              <a:solidFill>
                <a:srgbClr val="16171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216277"/>
            <a:ext cx="10566400" cy="219075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482977"/>
            <a:ext cx="800100" cy="800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057400" y="2482977"/>
            <a:ext cx="8966200" cy="800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i="0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Noa</a:t>
            </a:r>
            <a:r>
              <a:rPr sz="1400" b="0" i="0" dirty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0" i="0" dirty="0" err="1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Boimond</a:t>
            </a:r>
            <a:r>
              <a:rPr sz="1400" b="0" i="0" dirty="0">
                <a:solidFill>
                  <a:srgbClr val="CFCFD6"/>
                </a:solidFill>
                <a:latin typeface="Segoe UI"/>
                <a:ea typeface="Segoe UI"/>
                <a:cs typeface="Segoe UI"/>
              </a:rPr>
              <a:t>   ·   </a:t>
            </a:r>
            <a:r>
              <a:rPr sz="1400" b="0" i="0" dirty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Data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435" y="3656901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14450" y="3511677"/>
            <a:ext cx="97091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600" b="0" i="0" dirty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 liking toward computer as a whole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4041902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14450" y="3892677"/>
            <a:ext cx="97091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600" b="0" i="0" dirty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To help other avoid the struggle I faced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829425"/>
            <a:ext cx="762000" cy="28575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950" y="337184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4000" b="1" i="0" spc="-51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2800" y="2140585"/>
            <a:ext cx="47625" cy="979169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330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330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 dirty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85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85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Topic presentation, its purpose, and its prerequisites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330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330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385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Basics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5545" y="3399154"/>
            <a:ext cx="609600" cy="177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55545" y="3411854"/>
            <a:ext cx="6096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 spc="16" dirty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THE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3850" y="3655694"/>
            <a:ext cx="4178300" cy="455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Anatomy of a request and response, then the styles that reshape them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32752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3300" y="447992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3300" y="44799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3850" y="447992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850" y="474916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The contract's clauses, then who you are and what you may 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985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85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3540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Caching, compression, and the gateway as one front door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935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1985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85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40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0" y="3655694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API vs URL vs SDK vs MCP, and one closing provocation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9425"/>
            <a:ext cx="152400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276350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 spc="-51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API, </a:t>
            </a:r>
            <a:r>
              <a:rPr sz="3400" b="1" i="0" spc="-51" dirty="0" err="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Kesako</a:t>
            </a:r>
            <a:r>
              <a:rPr sz="3400" b="1" i="0" spc="-51" dirty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865630"/>
            <a:ext cx="516890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8550" y="2618105"/>
            <a:ext cx="1981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Application Programming Interface (API)</a:t>
            </a: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: a connection between computers or computer programs.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0250" y="1865630"/>
            <a:ext cx="254000" cy="2343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5B21B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4750" y="211328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4750" y="2703830"/>
            <a:ext cx="19812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Metal conducts electricity, but only a cable does it safely and consistently — an API is that same framework, connecting two programs the way a cable connects two outlets.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865630"/>
            <a:ext cx="516890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6050" y="1865630"/>
            <a:ext cx="762000" cy="2343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6650" y="2494280"/>
            <a:ext cx="25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5B21B6"/>
                </a:solidFill>
                <a:latin typeface="Segoe UI"/>
                <a:ea typeface="Segoe UI"/>
                <a:cs typeface="Segoe UI"/>
              </a:rPr>
              <a:t>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4000" y="249428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64550" y="2494280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Borrow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6650" y="3122930"/>
            <a:ext cx="25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5B21B6"/>
                </a:solidFill>
                <a:latin typeface="Segoe UI"/>
                <a:ea typeface="Segoe UI"/>
                <a:cs typeface="Segoe UI"/>
              </a:rPr>
              <a:t>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4000" y="312293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4550" y="3122930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Borrow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0240" y="4437380"/>
            <a:ext cx="5811520" cy="1144270"/>
          </a:xfrm>
          <a:prstGeom prst="roundRect">
            <a:avLst>
              <a:gd name="adj" fmla="val 8324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67400" y="458978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90240" y="5180330"/>
            <a:ext cx="581152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Google Maps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829425"/>
            <a:ext cx="2286000" cy="28575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29425"/>
            <a:ext cx="3048000" cy="28575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51305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 spc="-5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Basics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330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330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385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85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Topic presentation, its purpose, and its prerequisites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800" y="3234055"/>
            <a:ext cx="47625" cy="97916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330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330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385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Basics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5545" y="3399154"/>
            <a:ext cx="609600" cy="177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55545" y="3411854"/>
            <a:ext cx="6096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 spc="16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THE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3850" y="3655694"/>
            <a:ext cx="4178300" cy="455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Anatomy of a request and response, then the styles that reshape them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32752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3300" y="447992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3300" y="44799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3850" y="447992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850" y="474916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The contract's clauses, then who you are and what you may 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985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85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3540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Caching, compression, and the gateway as one front door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935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1985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85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40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0" y="3655694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API vs URL vs SDK vs MCP, and one closing provocation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9425"/>
            <a:ext cx="381000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51305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 spc="-5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Advanced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330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330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385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85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Topic presentation, its purpose, and its prerequisites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330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330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385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5545" y="3399154"/>
            <a:ext cx="609600" cy="177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5545" y="3411854"/>
            <a:ext cx="6096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 spc="16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THE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3850" y="3655694"/>
            <a:ext cx="4178300" cy="455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Anatomy of a request and response, then the styles that reshape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32752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800" y="4327525"/>
            <a:ext cx="47625" cy="979169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3300" y="447992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3300" y="44799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3850" y="447992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Advanced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850" y="474916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The contract's clauses, then who you are and what you may 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985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85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3540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Caching, compression, and the gateway as one front door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935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1985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85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40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0" y="3655694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API vs URL vs SDK vs MCP, and one closing provocation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9425"/>
            <a:ext cx="4572000" cy="28575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51305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 spc="-5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at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330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330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385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85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Topic presentation, its purpose, and its prerequisites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330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330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385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5545" y="3399154"/>
            <a:ext cx="609600" cy="177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5545" y="3411854"/>
            <a:ext cx="6096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 spc="16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THE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3850" y="3655694"/>
            <a:ext cx="4178300" cy="455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Anatomy of a request and response, then the styles that reshape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32752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3300" y="447992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3300" y="44799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3850" y="447992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3850" y="474916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The contract's clauses, then who you are and what you may 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935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9350" y="2140585"/>
            <a:ext cx="47625" cy="979169"/>
          </a:xfrm>
          <a:prstGeom prst="rect">
            <a:avLst/>
          </a:prstGeom>
          <a:solidFill>
            <a:srgbClr val="B35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985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85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3540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Caching, compression, and the gateway as one front door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935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1985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85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40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0" y="3655694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API vs URL vs SDK vs MCP, and one closing provocation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9425"/>
            <a:ext cx="5334000" cy="28575"/>
          </a:xfrm>
          <a:prstGeom prst="rect">
            <a:avLst/>
          </a:prstGeom>
          <a:solidFill>
            <a:srgbClr val="B35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51305"/>
            <a:ext cx="10566400" cy="561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 i="0" spc="-5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330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330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385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85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Topic presentation, its purpose, and its prerequisites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330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330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385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Basics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5545" y="3399154"/>
            <a:ext cx="609600" cy="177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5545" y="3411854"/>
            <a:ext cx="6096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 spc="16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THE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3850" y="3655694"/>
            <a:ext cx="4178300" cy="455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Anatomy of a request and response, then the styles that reshape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32752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3300" y="447992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3300" y="447992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3850" y="447992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3850" y="474916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The contract's clauses, then who you are and what you may 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9350" y="214058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9850" y="2292985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850" y="2292985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3540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2292985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at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2562225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Caching, compression, and the gateway as one front door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9350" y="3234055"/>
            <a:ext cx="5149850" cy="979169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29350" y="3234055"/>
            <a:ext cx="47625" cy="979169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19850" y="3386454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FF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850" y="3386454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400" y="3386454"/>
            <a:ext cx="4178300" cy="248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 spc="-14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0" y="3655694"/>
            <a:ext cx="4178300" cy="253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sz="11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API vs URL vs SDK vs MCP, and one closing provocation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9425"/>
            <a:ext cx="6096000" cy="28575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7557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 ·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0923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20923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20923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Cold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3496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813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711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Live call, no context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 URL in the browser, raw JSON on screen, not a word of explanation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194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4092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Ask the room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who has seen this before, who can tell me what it means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575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473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promise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“in an hour, every character on this screen will be boring to you”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956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854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Then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the background slide — who I am, why this dataschool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829425"/>
            <a:ext cx="6858000" cy="28575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441450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 ·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778000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1778000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5B21B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1778000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Kesako &amp; why 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035300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499612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397250"/>
            <a:ext cx="7753350" cy="546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Raw definition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Application Programming Interface: a connection between programs. One line, move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128262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4025900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cable metaphore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metal conducts electricity; a cable does it safely, consistently, repeatably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509262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406900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restaurant-app story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the two reasons to call an API: borrow data, borrow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890262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787900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JSON in 90 seconds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one object, one array, one nested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5271262"/>
            <a:ext cx="85725" cy="85725"/>
          </a:xfrm>
          <a:prstGeom prst="roundRect">
            <a:avLst>
              <a:gd name="adj" fmla="val 33333"/>
            </a:avLst>
          </a:prstGeom>
          <a:solidFill>
            <a:srgbClr val="ECE3FC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450" y="5168900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a web API lives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your machine → HTTP → their machine. No OSI layers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29425"/>
            <a:ext cx="7620000" cy="28575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652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 · ANATOMY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9018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19018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19018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Anatomy of a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0598" y="2174240"/>
            <a:ext cx="609600" cy="177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80598" y="2186940"/>
            <a:ext cx="6096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 spc="16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THE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31591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2800" y="3623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3521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Two columns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request on the left, response on the right, one component lit at a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004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3902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request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method, endpoint, parameters, headers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385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283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response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status, headers, body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766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450" y="4664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Three buckets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2xx worked, 4xx is your fault, 5xx is theirs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147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450" y="5045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Hands-on, 4 min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everyone makes one call, their own way: browser, Postman, curl,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829425"/>
            <a:ext cx="838200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652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 · ANATOMY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9018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19018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1D4ED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19018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1591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623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521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REST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resources as URLs, HTTP verbs as actions. 95% of what you will ever meet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004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3902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GraphQL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one endpoint, and the client asks for the exact fields it wants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385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283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gRPC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binary instead of JSON, machine to machine, fast and unreadable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766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664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SOAP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one sentence, said with pity, so you recognise it in legacy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5147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450" y="5045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takeaway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different cables, same electricity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29425"/>
            <a:ext cx="9144000" cy="28575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7557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II · THE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0923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20923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20923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contract's clauses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3496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813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711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Rate limiting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the API's speed limit. Taught once, here, in full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194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4092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Pagination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you don't get 10 000 rows, you get page 1 of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575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473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Versioning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</a:t>
            </a:r>
            <a:r>
              <a:rPr sz="1196" b="0" i="0">
                <a:solidFill>
                  <a:srgbClr val="16171C"/>
                </a:solidFill>
                <a:latin typeface="Consolas"/>
                <a:ea typeface="Consolas"/>
                <a:cs typeface="Consolas"/>
              </a:rPr>
              <a:t>/v1/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vs </a:t>
            </a:r>
            <a:r>
              <a:rPr sz="1196" b="0" i="0">
                <a:solidFill>
                  <a:srgbClr val="16171C"/>
                </a:solidFill>
                <a:latin typeface="Consolas"/>
                <a:ea typeface="Consolas"/>
                <a:cs typeface="Consolas"/>
              </a:rPr>
              <a:t>/v2/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, and why last year's integration still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956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854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Idempotency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calling twice must not charge twice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829425"/>
            <a:ext cx="9906000" cy="28575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3747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II · THE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7113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DCF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17113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17113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Who are you, and what may you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29686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432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330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two questions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authentication is </a:t>
            </a:r>
            <a:r>
              <a:rPr sz="1300" b="0" i="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who are you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; authorization is </a:t>
            </a:r>
            <a:r>
              <a:rPr sz="1300" b="0" i="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what may you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813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3711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401 vs 403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those two questions, made visible in status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194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092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key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 password in a header, plus the golden rules for not leaking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575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473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JWT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 signed badge that carries its own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956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450" y="4854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OAuth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“Sign in with Google”, in four arrows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337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DCF5E2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450" y="5235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RBAC vs ABAC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who you are, versus what is true right 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829425"/>
            <a:ext cx="10668000" cy="28575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7557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II ·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0923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FF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20923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B3540A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20923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When it has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3496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813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7CF"/>
          </a:solidFill>
          <a:ln w="9525">
            <a:solidFill>
              <a:srgbClr val="B354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711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consumer's view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not an infra tour: what do these limits mean for </a:t>
            </a:r>
            <a:r>
              <a:rPr sz="1300" b="0" i="1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my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integration?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194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7CF"/>
          </a:solidFill>
          <a:ln w="9525">
            <a:solidFill>
              <a:srgbClr val="B354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4092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Caching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don't ask twice for the same unchanged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575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7CF"/>
          </a:solidFill>
          <a:ln w="9525">
            <a:solidFill>
              <a:srgbClr val="B354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473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Compression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same data, fewer bytes on the wire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9569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7CF"/>
          </a:solidFill>
          <a:ln w="9525">
            <a:solidFill>
              <a:srgbClr val="B354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8545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gateway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one front door, doing most of §4 and §5 for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829425"/>
            <a:ext cx="11430000" cy="28575"/>
          </a:xfrm>
          <a:prstGeom prst="rect">
            <a:avLst/>
          </a:prstGeom>
          <a:solidFill>
            <a:srgbClr val="B35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1565275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 spc="90">
                <a:solidFill>
                  <a:srgbClr val="97979F"/>
                </a:solidFill>
                <a:latin typeface="Segoe UI"/>
                <a:ea typeface="Segoe UI"/>
                <a:cs typeface="Segoe UI"/>
              </a:rPr>
              <a:t>PART II ·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901825"/>
            <a:ext cx="990600" cy="990600"/>
          </a:xfrm>
          <a:prstGeom prst="roundRect">
            <a:avLst>
              <a:gd name="adj" fmla="val 13461"/>
            </a:avLst>
          </a:prstGeom>
          <a:solidFill>
            <a:srgbClr val="FF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2800" y="1901825"/>
            <a:ext cx="9906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0" y="1901825"/>
            <a:ext cx="9347200" cy="990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900" b="1" i="0" spc="-98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159125"/>
            <a:ext cx="10566400" cy="9525"/>
          </a:xfrm>
          <a:prstGeom prst="rect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800" y="3623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1EC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450" y="3521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vs URL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 URL is an address; an API is the contract at that 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004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1EC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450" y="3902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vs SDK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the SDK is the API wrapped in your language, so you stop writing HTTP by hand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385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1EC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450" y="4283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API vs MCP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an API is for your code; MCP is for an LLM to discover and call tools on its 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766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1EC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450" y="4664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HATEOAS, as an aside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the response tells you what you can do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5147437"/>
            <a:ext cx="85725" cy="85725"/>
          </a:xfrm>
          <a:prstGeom prst="roundRect">
            <a:avLst>
              <a:gd name="adj" fmla="val 33333"/>
            </a:avLst>
          </a:prstGeom>
          <a:solidFill>
            <a:srgbClr val="FFE1EC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450" y="5045075"/>
            <a:ext cx="775335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16171C"/>
                </a:solidFill>
                <a:latin typeface="Segoe UI"/>
                <a:ea typeface="Segoe UI"/>
                <a:cs typeface="Segoe UI"/>
              </a:rPr>
              <a:t>The closer</a:t>
            </a:r>
            <a:r>
              <a:rPr sz="1300" b="0" i="0">
                <a:solidFill>
                  <a:srgbClr val="6B6B76"/>
                </a:solidFill>
                <a:latin typeface="Segoe UI"/>
                <a:ea typeface="Segoe UI"/>
                <a:cs typeface="Segoe UI"/>
              </a:rPr>
              <a:t> — the web is RESTful; most “REST APIs” aren't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1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I in a Nutshell">
      <a:dk1>
        <a:sysClr val="windowText" lastClr="000000"/>
      </a:dk1>
      <a:lt1>
        <a:sysClr val="window" lastClr="FFFFFF"/>
      </a:lt1>
      <a:dk2>
        <a:srgbClr val="6B6B76"/>
      </a:dk2>
      <a:lt2>
        <a:srgbClr val="F7F7F9"/>
      </a:lt2>
      <a:accent1>
        <a:srgbClr val="5B21B6"/>
      </a:accent1>
      <a:accent2>
        <a:srgbClr val="1D4ED8"/>
      </a:accent2>
      <a:accent3>
        <a:srgbClr val="15803D"/>
      </a:accent3>
      <a:accent4>
        <a:srgbClr val="B3540A"/>
      </a:accent4>
      <a:accent5>
        <a:srgbClr val="BE123C"/>
      </a:accent5>
      <a:accent6>
        <a:srgbClr val="97979F"/>
      </a:accent6>
      <a:hlink>
        <a:srgbClr val="1D4ED8"/>
      </a:hlink>
      <a:folHlink>
        <a:srgbClr val="5B21B6"/>
      </a:folHlink>
    </a:clrScheme>
    <a:fontScheme name="API in a Nutshell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oundations fill">
      <a:srgbClr val="ECE3FC"/>
    </a:custClr>
    <a:custClr name="Foundations text">
      <a:srgbClr val="5B21B6"/>
    </a:custClr>
    <a:custClr name="Anatomy fill">
      <a:srgbClr val="DBEAFE"/>
    </a:custClr>
    <a:custClr name="Anatomy text">
      <a:srgbClr val="1D4ED8"/>
    </a:custClr>
    <a:custClr name="Contract fill">
      <a:srgbClr val="DCF5E2"/>
    </a:custClr>
    <a:custClr name="Contract text">
      <a:srgbClr val="15803D"/>
    </a:custClr>
    <a:custClr name="Horizon fill">
      <a:srgbClr val="FFE7CF"/>
    </a:custClr>
    <a:custClr name="Horizon text">
      <a:srgbClr val="B3540A"/>
    </a:custClr>
    <a:custClr name="Next fill">
      <a:srgbClr val="FFE1EC"/>
    </a:custClr>
    <a:custClr name="Next text">
      <a:srgbClr val="BE123C"/>
    </a:custClr>
    <a:custClr name="Surface alt">
      <a:srgbClr val="F7F7F9"/>
    </a:custClr>
    <a:custClr name="Surface sunk">
      <a:srgbClr val="F1F1F4"/>
    </a:custClr>
    <a:custClr name="Border">
      <a:srgbClr val="E3E3E8"/>
    </a:custClr>
    <a:custClr name="Border strong">
      <a:srgbClr val="CFCFD6"/>
    </a:custClr>
    <a:custClr name="Text primary">
      <a:srgbClr val="16171C"/>
    </a:custClr>
    <a:custClr name="Text secondary">
      <a:srgbClr val="6B6B76"/>
    </a:custClr>
    <a:custClr name="Text tertiary">
      <a:srgbClr val="97979F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1177</Words>
  <Application>Microsoft Office PowerPoint</Application>
  <PresentationFormat>Grand écran</PresentationFormat>
  <Paragraphs>165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Consolas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Noa BOIMOND</cp:lastModifiedBy>
  <cp:revision>2</cp:revision>
  <dcterms:created xsi:type="dcterms:W3CDTF">2013-01-27T09:14:16Z</dcterms:created>
  <dcterms:modified xsi:type="dcterms:W3CDTF">2026-09-04T15:34:19Z</dcterms:modified>
  <cp:category/>
</cp:coreProperties>
</file>